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84" y="8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egoe UI"/>
              </a:rPr>
              <a:t>Content Performance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31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DEECF9"/>
                </a:solidFill>
                <a:latin typeface="Segoe UI"/>
              </a:rPr>
              <a:t>How It 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>
                <a:solidFill>
                  <a:srgbClr val="DEECF9"/>
                </a:solidFill>
                <a:latin typeface="Segoe UI"/>
              </a:rPr>
              <a:t>Pipeline architecture  ·  AI Readiness scoring  ·  Retrievability scoring  ·  Content ingestion comparison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Two gaps in content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We know how humans engage — we're flying blind on how AI does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5212080" cy="4846320"/>
          </a:xfrm>
          <a:prstGeom prst="rect">
            <a:avLst/>
          </a:prstGeom>
          <a:solidFill>
            <a:srgbClr val="E8F4E8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508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07947"/>
                </a:solidFill>
                <a:latin typeface="Segoe UI"/>
              </a:rPr>
              <a:t>✓  Human 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3030"/>
                </a:solidFill>
                <a:latin typeface="Segoe UI"/>
              </a:rPr>
              <a:t>Power BI tells us: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Page views, bounce rate, CTR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Organic search referrals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Helpfulness ratings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Time on page, scroll depth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1371600"/>
            <a:ext cx="5212080" cy="4846320"/>
          </a:xfrm>
          <a:prstGeom prst="rect">
            <a:avLst/>
          </a:prstGeom>
          <a:solidFill>
            <a:srgbClr val="FDF0ED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150876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D83400"/>
                </a:solidFill>
                <a:latin typeface="Segoe UI"/>
              </a:rPr>
              <a:t>✗  AI engagement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10312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23030"/>
                </a:solidFill>
                <a:latin typeface="Segoe UI"/>
              </a:rPr>
              <a:t>Power BI does NOT tell 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246888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Whether Copilot retrieves this article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Whether the article is well-chunked for RAG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Which articles are outcompeted in AI search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323030"/>
                </a:solidFill>
                <a:latin typeface="Segoe UI"/>
              </a:rPr>
              <a:t>•  How AI-readable the content structure 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3200400"/>
            <a:ext cx="822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D88300"/>
                </a:solidFill>
                <a:latin typeface="Segoe UI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26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23030"/>
                </a:solidFill>
                <a:latin typeface="Segoe UI"/>
              </a:rPr>
              <a:t>"When a user asks Copilot a question, does our article show up?  We don't know."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End-to-end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From engagement export to enriched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" y="1920240"/>
            <a:ext cx="1691640" cy="109728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860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3030"/>
                </a:solidFill>
                <a:latin typeface="Segoe UI"/>
              </a:rPr>
              <a:t>Power BI
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Engagement metrics
(URLs, views, etc.)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1920240"/>
            <a:ext cx="27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23160" y="1920240"/>
            <a:ext cx="1691640" cy="10972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2316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Content
Cache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3 ingestion methods
— see 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60520" y="1920240"/>
            <a:ext cx="27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1920240"/>
            <a:ext cx="1691640" cy="109728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61772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AI Readiness
Scorer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10 LLM calls / article
→ band (High/Med/Low)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20240"/>
            <a:ext cx="27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12280" y="1920240"/>
            <a:ext cx="1691640" cy="109728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1228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Retrievability
Scorer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Question gen → KS query
→ hit-rate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1920240"/>
            <a:ext cx="27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06840" y="1920240"/>
            <a:ext cx="1691640" cy="109728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0684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323030"/>
                </a:solidFill>
                <a:latin typeface="Segoe UI"/>
              </a:rPr>
              <a:t>Enriched
CSV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Original cols +
new signals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44200" y="1920240"/>
            <a:ext cx="274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78D4"/>
                </a:solidFill>
                <a:latin typeface="Segoe UI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201400" y="1920240"/>
            <a:ext cx="1691640" cy="1097280"/>
          </a:xfrm>
          <a:prstGeom prst="rect">
            <a:avLst/>
          </a:prstGeom>
          <a:solidFill>
            <a:srgbClr val="00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1201400" y="1920240"/>
            <a:ext cx="1691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Streamlit
Dashboard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3108960"/>
            <a:ext cx="1691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05E5C"/>
                </a:solidFill>
                <a:latin typeface="Segoe UI"/>
              </a:rPr>
              <a:t>Table · Scatter · 
Per-article report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057400" y="3782060"/>
            <a:ext cx="1828800" cy="548640"/>
          </a:xfrm>
          <a:prstGeom prst="rect">
            <a:avLst/>
          </a:prstGeom>
          <a:solidFill>
            <a:srgbClr val="F3F2F1"/>
          </a:solidFill>
          <a:ln w="635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057400" y="37871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5E5C"/>
                </a:solidFill>
                <a:latin typeface="Segoe UI"/>
              </a:rPr>
              <a:t>Stage 1
Content
Ingestion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44187" y="3764280"/>
            <a:ext cx="1828800" cy="548640"/>
          </a:xfrm>
          <a:prstGeom prst="rect">
            <a:avLst/>
          </a:prstGeom>
          <a:solidFill>
            <a:srgbClr val="F3F2F1"/>
          </a:solidFill>
          <a:ln w="635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251960" y="3813048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605E5C"/>
                </a:solidFill>
                <a:latin typeface="Segoe UI"/>
              </a:rPr>
              <a:t>Stage 2
AI Readiness
Scoring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46520" y="3767328"/>
            <a:ext cx="1828800" cy="548640"/>
          </a:xfrm>
          <a:prstGeom prst="rect">
            <a:avLst/>
          </a:prstGeom>
          <a:solidFill>
            <a:srgbClr val="F3F2F1"/>
          </a:solidFill>
          <a:ln w="635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46520" y="3840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dirty="0">
                <a:solidFill>
                  <a:srgbClr val="605E5C"/>
                </a:solidFill>
                <a:latin typeface="Segoe UI"/>
              </a:rPr>
              <a:t>Stage 3
Retrievability
Scoring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" y="3337560"/>
            <a:ext cx="1691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5E5C"/>
                </a:solidFill>
                <a:latin typeface="Segoe UI"/>
              </a:rPr>
              <a:t>Input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337560"/>
            <a:ext cx="3520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05E5C"/>
                </a:solidFill>
                <a:latin typeface="Segoe UI"/>
              </a:rPr>
              <a:t>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Stage 1: Fetching and caching article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Three ingestion methods — each gives the LLM a different view of the same article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25880"/>
            <a:ext cx="3657600" cy="4937760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325880"/>
            <a:ext cx="3657600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A  ·  HTML crawl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8745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Source: live URL (HTTP fetch)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Parser: BeautifulSoup → plain text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Headings: all flattened to same level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Links/images: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Code blocks: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Tables: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Coverage: 273 articles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343400"/>
            <a:ext cx="34747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What the LLM sees:
"Introduction
Copilot is an AI tool.
See also Configuration."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1325880"/>
            <a:ext cx="3657600" cy="4937760"/>
          </a:xfrm>
          <a:prstGeom prst="rect">
            <a:avLst/>
          </a:prstGeom>
          <a:solidFill>
            <a:srgbClr val="F3F2F1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069080" y="1325880"/>
            <a:ext cx="3657600" cy="45720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605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B  ·  Local .md → normalized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18745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Source: local .md file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Parser: normalize_markdown_content()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Headings: flattened to ##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Links/images: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Code blocks: stripped (fence removed)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Tables: separator rows removed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Coverage: 273 articles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4343400"/>
            <a:ext cx="34747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2519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What the LLM sees:
"## Introduction
Copilot is an AI tool.
See also Configuration."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80" y="1325880"/>
            <a:ext cx="3657600" cy="4937760"/>
          </a:xfrm>
          <a:prstGeom prst="rect">
            <a:avLst/>
          </a:prstGeom>
          <a:solidFill>
            <a:srgbClr val="F3F2F1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955280" y="1325880"/>
            <a:ext cx="3657600" cy="45720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046720" y="13716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C  ·  Local .md → raw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1874520"/>
            <a:ext cx="34747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Source: local .md file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Parser: front matter stripped only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Headings: H1–H6 preserved as-is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Links: [text](url) preserved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Code blocks: ``` preserved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Tables: | pipes | preserved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Coverage: 155 articles (matched .md)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4343400"/>
            <a:ext cx="34747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4389120"/>
            <a:ext cx="3291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What the LLM sees:
"# Introduction
Copilot is an [AI tool](url).
| Feature | Status |
|---------|--------|
| Chat    | GA     |"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Stage 2: AI Readiness — is this article well-structured for AI?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10 concurrent LLM calls per article, each evaluating a RAG-quality dimension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32588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3400"/>
                </a:solidFill>
                <a:latin typeface="Segoe UI"/>
              </a:rPr>
              <a:t>10 Dimensions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737360"/>
            <a:ext cx="58521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Heading Hierarchy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Clear H1→H2→H3 for meaningful chunking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Chunk Autonomy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Each section standalone without context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Context Completeness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Key terms and prereqs explained inline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Entity Normalization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Consistent naming for products/features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Disambiguation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Ambiguous terms and pronouns resolved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Semantic Density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High info-to-noise; no filler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Structured Data Utilization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Tables and lists over dense prose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Query-Answer Alignment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Answers questions users actually ask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Redundancy Efficiency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No repetition diluting retrieval signal</a:t>
            </a:r>
          </a:p>
          <a:p>
            <a:pPr>
              <a:spcBef>
                <a:spcPts val="200"/>
              </a:spcBef>
            </a:pPr>
            <a:r>
              <a:rPr sz="1000" b="1">
                <a:solidFill>
                  <a:srgbClr val="D83400"/>
                </a:solidFill>
                <a:latin typeface="Segoe UI"/>
              </a:rPr>
              <a:t>  Cross-Section Integrity</a:t>
            </a:r>
          </a:p>
          <a:p>
            <a:pPr>
              <a:spcBef>
                <a:spcPts val="0"/>
              </a:spcBef>
            </a:pPr>
            <a:r>
              <a:rPr sz="900">
                <a:solidFill>
                  <a:srgbClr val="605E5C"/>
                </a:solidFill>
                <a:latin typeface="Segoe UI"/>
              </a:rPr>
              <a:t>    No contradictions across sections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32588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D83400"/>
                </a:solidFill>
                <a:latin typeface="Segoe UI"/>
              </a:rPr>
              <a:t>How It Works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1737360"/>
            <a:ext cx="5394960" cy="32004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76479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Per-dimension LLM call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84832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23030"/>
                </a:solidFill>
                <a:latin typeface="Segoe UI"/>
              </a:rPr>
              <a:t>Each of the 10 dimensions runs as a separate, concurrent call to Azure OpenAI. A shared prompt describes the Knowledge Service: hybrid search, 500-token chunks, H1+H2 prepended. Only high-confidence issues are flagged — zero recommendations is valid and expected for a well-structured article.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3154680"/>
            <a:ext cx="5394960" cy="32004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1821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Recommendation 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502152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23030"/>
                </a:solidFill>
                <a:latin typeface="Segoe UI"/>
              </a:rPr>
              <a:t>Each recommendation has three fields: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Evidence — specific quote showing the issue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Action   — imperative fix the editor should make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Impact   — the retrieval benefit of fixing it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572000"/>
            <a:ext cx="5394960" cy="32004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45994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Band assignment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919472"/>
            <a:ext cx="53949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323030"/>
                </a:solidFill>
                <a:latin typeface="Segoe UI"/>
              </a:rPr>
              <a:t>Total recommendations across all 10 dimensions → band: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High    (0–3 recs)  well-structured for RAG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Medium  (4–8 recs)  meaningful gaps; improve</a:t>
            </a:r>
          </a:p>
          <a:p>
            <a:r>
              <a:rPr sz="1000">
                <a:solidFill>
                  <a:srgbClr val="323030"/>
                </a:solidFill>
                <a:latin typeface="Segoe UI"/>
              </a:rPr>
              <a:t>  •  Low     (9+ recs)   significant issues; prioritize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Stage 3: Retrievability — does AI actually surface this article?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Hit-rate test: does the Knowledge Service return this article for relevant questions?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25880"/>
            <a:ext cx="2834640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325880"/>
            <a:ext cx="2834640" cy="5029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Step 1
Question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192024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LLM reads the article and generates 10 questions: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5 natural-language questions (vector retrieval)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5 BM25 keyword queries (sparse retrieval)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Grounded in actual article content — not generic.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325880"/>
            <a:ext cx="2834640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106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200400" y="1325880"/>
            <a:ext cx="2834640" cy="502920"/>
          </a:xfrm>
          <a:prstGeom prst="rect">
            <a:avLst/>
          </a:prstGeom>
          <a:solidFill>
            <a:srgbClr val="106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Step 2
Knowledge Service Query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2024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Each question sent to Microsoft Learn KS: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Returns top 5 chunks (hybrid: keyword + vector + reranking)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Each chunk: up to 500 tokens, H1+H2 prepended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HIT = article URL appears in any of the 5 chunks.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325880"/>
            <a:ext cx="2834640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1325880"/>
            <a:ext cx="2834640" cy="50292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0936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Step 3
Score Calculation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192024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Score = (hits / 10 questions) × 100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Example: 7 of 10 → score = 70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Ranges: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  70–100  Strong retrieval signal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  40–69   Moderate; some questions miss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  0–39    Weak; article is outcompeted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35440" y="1325880"/>
            <a:ext cx="2834640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235440" y="1325880"/>
            <a:ext cx="2834640" cy="50292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326880" y="1344168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20240"/>
            <a:ext cx="26517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High page views + low retrievability = danger zone: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Users find the article via direct search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But asking Copilot the same question returns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  a different (possibly wrong) article</a:t>
            </a:r>
          </a:p>
          <a:p>
            <a:pPr>
              <a:spcBef>
                <a:spcPts val="200"/>
              </a:spcBef>
            </a:pPr>
            <a:endParaRPr sz="10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Invisible without the Retrievability score.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035040"/>
            <a:ext cx="11612880" cy="411480"/>
          </a:xfrm>
          <a:prstGeom prst="rect">
            <a:avLst/>
          </a:prstGeom>
          <a:solidFill>
            <a:srgbClr val="E8F4E8"/>
          </a:solidFill>
          <a:ln w="127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7200" y="605332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07947"/>
                </a:solidFill>
                <a:latin typeface="Segoe UI"/>
              </a:rPr>
              <a:t>Score  =  (questions where article appears in top-5 KS chunks)  ÷  10  ×  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Stage 4: What the pipeline produces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Three views in the Streamlit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4572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1  Data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202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All original Power BI columns intact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New: AI Readiness band (High / Medium / Low)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New: Retrievability score (0–100)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New: Report ↗ link per article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Filterable, sortable — your Power BI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report with AI performance columns added.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49039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749039" cy="45720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3898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2  Portfolio Scatter 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9202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X axis: Retrievability score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Y axis: Page views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Color: AI Readiness band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Top-left quadrant = high-traffic articles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Copilot fails to surface — your editing backlog.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Priority table: Low band AND score &lt; 40,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ranked by page views.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749039" cy="4846320"/>
          </a:xfrm>
          <a:prstGeom prst="rect">
            <a:avLst/>
          </a:prstGeom>
          <a:solidFill>
            <a:srgbClr val="F3F2F1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598" y="1371600"/>
            <a:ext cx="3749039" cy="45720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8" y="1389888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3  Per-Article HTML Report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1920240"/>
            <a:ext cx="34747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Band chip + overall score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Dimension bar chart (recs per dimension)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Recommendation cards: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  •  Evidence — what the issue is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  •  Action   — what to fix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  •  Impact   — retrieval benefit</a:t>
            </a:r>
          </a:p>
          <a:p>
            <a:pPr>
              <a:spcBef>
                <a:spcPts val="400"/>
              </a:spcBef>
            </a:pPr>
            <a:endParaRPr sz="1100">
              <a:solidFill>
                <a:srgbClr val="323030"/>
              </a:solidFill>
              <a:latin typeface="Segoe UI"/>
            </a:endParaRP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323030"/>
                </a:solidFill>
                <a:latin typeface="Segoe UI"/>
              </a:rPr>
              <a:t>Open in VS Code Web — one click to edit.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Hypothesis: does richer markdown structure improve LLM assessment?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9611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DEECF9"/>
                </a:solidFill>
                <a:latin typeface="Segoe UI"/>
              </a:rPr>
              <a:t>The same scoring pipeline, three different content inputs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4768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749039" cy="3657600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749039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What the LLM uses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874519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030"/>
                </a:solidFill>
                <a:latin typeface="Segoe UI"/>
              </a:rPr>
              <a:t>The scoring prompt feeds the article content directly to the LLM. The content is the only variable — same 10 dimensions, same prompts, same Azure OpenAI deployment across all three methods.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371600"/>
            <a:ext cx="3749039" cy="3657600"/>
          </a:xfrm>
          <a:prstGeom prst="rect">
            <a:avLst/>
          </a:prstGeom>
          <a:solidFill>
            <a:srgbClr val="F3F2F1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51959" y="1371600"/>
            <a:ext cx="3749039" cy="41148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43399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The hypothesis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19" y="1874519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030"/>
                </a:solidFill>
                <a:latin typeface="Segoe UI"/>
              </a:rPr>
              <a:t>Preserving heading hierarchy, live links, and table structure gives the LLM richer structural signals. Richer signals → more accurate issue detection → fewer spurious recommendations on well-structured content.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598" y="1371600"/>
            <a:ext cx="3749039" cy="3657600"/>
          </a:xfrm>
          <a:prstGeom prst="rect">
            <a:avLst/>
          </a:prstGeom>
          <a:solidFill>
            <a:srgbClr val="F3F2F1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229598" y="1371600"/>
            <a:ext cx="3749039" cy="41148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38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Segoe UI"/>
              </a:rPr>
              <a:t>How we 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58" y="1874519"/>
            <a:ext cx="3474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23030"/>
                </a:solidFill>
                <a:latin typeface="Segoe UI"/>
              </a:rPr>
              <a:t>273 articles scored with Method A (HTML crawl) and Method B (normalized markdown). 155 articles also scored with Method C (raw markdown). compare_scores.py computes per-article and per-dimension deltas across all three runs.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212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3030"/>
                </a:solidFill>
                <a:latin typeface="Segoe UI"/>
              </a:rPr>
              <a:t>Coverage summary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577840"/>
            <a:ext cx="1645920" cy="256032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5596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23030"/>
                </a:solidFill>
                <a:latin typeface="Segoe UI"/>
              </a:rPr>
              <a:t>Method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965960" y="5577840"/>
            <a:ext cx="1645920" cy="256032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011680" y="559612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23030"/>
                </a:solidFill>
                <a:latin typeface="Segoe UI"/>
              </a:rPr>
              <a:t>Source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5577840"/>
            <a:ext cx="2286000" cy="256032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703320" y="5596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23030"/>
                </a:solidFill>
                <a:latin typeface="Segoe UI"/>
              </a:rPr>
              <a:t>Heading levels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89320" y="5577840"/>
            <a:ext cx="2286000" cy="256032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035040" y="559612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23030"/>
                </a:solidFill>
                <a:latin typeface="Segoe UI"/>
              </a:rPr>
              <a:t>Links / 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321040" y="5577840"/>
            <a:ext cx="1371600" cy="256032"/>
          </a:xfrm>
          <a:prstGeom prst="rect">
            <a:avLst/>
          </a:prstGeom>
          <a:solidFill>
            <a:srgbClr val="E0E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366760" y="559612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23030"/>
                </a:solidFill>
                <a:latin typeface="Segoe UI"/>
              </a:rPr>
              <a:t>Articles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5852160"/>
            <a:ext cx="164592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58704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A — HTML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5852160"/>
            <a:ext cx="164592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011680" y="587044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HTTP crawl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0" y="5852160"/>
            <a:ext cx="22860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703320" y="58704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flattened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89320" y="5852160"/>
            <a:ext cx="22860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35040" y="587044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stripped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321040" y="5852160"/>
            <a:ext cx="13716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66760" y="587044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273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61264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20040" y="6144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B — Norm-md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965960" y="6126480"/>
            <a:ext cx="164592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011680" y="614476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Local .md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0" y="6126480"/>
            <a:ext cx="2286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0332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flattened to ##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89320" y="6126480"/>
            <a:ext cx="22860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035040" y="614476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stripped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21040" y="6126480"/>
            <a:ext cx="1371600" cy="2560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66760" y="61447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273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6400800"/>
            <a:ext cx="164592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040" y="64190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C — Raw-md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965960" y="6400800"/>
            <a:ext cx="164592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2011680" y="6419088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Local .md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0" y="6400800"/>
            <a:ext cx="22860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703320" y="6419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H1–H6 preserved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989320" y="6400800"/>
            <a:ext cx="22860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035040" y="641908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preserved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21040" y="6400800"/>
            <a:ext cx="1371600" cy="256032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366760" y="641908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23030"/>
                </a:solidFill>
                <a:latin typeface="Segoe UI"/>
              </a:rPr>
              <a:t>155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What each method feeds to the LLM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Same article — three different representations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371600"/>
            <a:ext cx="3749039" cy="4663440"/>
          </a:xfrm>
          <a:prstGeom prst="rect">
            <a:avLst/>
          </a:prstGeom>
          <a:solidFill>
            <a:srgbClr val="F3F2F1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82880" y="1371600"/>
            <a:ext cx="3749039" cy="41148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4320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A — HTML crawl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74519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9202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Introduction
Copilot is an AI tool that helps
you work more efficiently.
See also Configuration.
Features
Copilot supports Word, Excel,
PowerPoint, Teams, and Outlook.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1605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Structure: none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Headings: lost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Links: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Tables: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Code: stripped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19" y="1371600"/>
            <a:ext cx="3749039" cy="4663440"/>
          </a:xfrm>
          <a:prstGeom prst="rect">
            <a:avLst/>
          </a:prstGeom>
          <a:solidFill>
            <a:srgbClr val="F3F2F1"/>
          </a:solidFill>
          <a:ln w="25400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160519" y="1371600"/>
            <a:ext cx="3749039" cy="411480"/>
          </a:xfrm>
          <a:prstGeom prst="rect">
            <a:avLst/>
          </a:prstGeom>
          <a:solidFill>
            <a:srgbClr val="1079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251959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B — Normalized markdown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874519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1079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43399" y="19202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## Introduction
Copilot is an AI tool that helps
you work more efficiently.
See also Configuration.
## Features
Copilot supports Word, Excel,
PowerPoint, Teams, and Outlook.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79" y="41605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Structure: ## only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Headings: flattened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Links: stripped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Tables: partial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Code: text only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58" y="1371600"/>
            <a:ext cx="3749039" cy="4663440"/>
          </a:xfrm>
          <a:prstGeom prst="rect">
            <a:avLst/>
          </a:prstGeom>
          <a:solidFill>
            <a:srgbClr val="F3F2F1"/>
          </a:solidFill>
          <a:ln w="25400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138158" y="1371600"/>
            <a:ext cx="3749039" cy="411480"/>
          </a:xfrm>
          <a:prstGeom prst="rect">
            <a:avLst/>
          </a:prstGeom>
          <a:solidFill>
            <a:srgbClr val="D83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8" y="1389888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Segoe UI"/>
              </a:rPr>
              <a:t>Method C — Raw markdown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598" y="1874519"/>
            <a:ext cx="3566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3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38" y="1920240"/>
            <a:ext cx="3383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23030"/>
                </a:solidFill>
                <a:latin typeface="Segoe UI Mono"/>
              </a:rPr>
              <a:t># Introduction
Copilot is an [AI tool](url) that
helps you work more efficiently.
See also [Configuration](url).
## Features
| App | Status |
|-----|--------|
| Word | GA |
| Teams | GA |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18" y="416052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Structure: full H1–H6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Headings: preserved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Links: [text](url)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Tables: | pipes |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323030"/>
                </a:solidFill>
                <a:latin typeface="Segoe UI"/>
              </a:rPr>
              <a:t>•  Code: ``` fences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989320"/>
            <a:ext cx="11612880" cy="457200"/>
          </a:xfrm>
          <a:prstGeom prst="rect">
            <a:avLst/>
          </a:prstGeom>
          <a:solidFill>
            <a:srgbClr val="FFF4E0"/>
          </a:solidFill>
          <a:ln w="19050">
            <a:solidFill>
              <a:srgbClr val="D88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7200" y="601675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23030"/>
                </a:solidFill>
                <a:latin typeface="Segoe UI"/>
              </a:rPr>
              <a:t>B and C use the same source files — score differences are purely structural. A uses HTTP-crawled HTML which may differ slightly from the .md source.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Segoe UI"/>
              </a:rPr>
              <a:t>Score comparison: does structure preservation change results?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731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DEECF9"/>
                </a:solidFill>
                <a:latin typeface="Segoe UI"/>
              </a:rPr>
              <a:t>Method A vs B: 273 articles  ·  Method C: 0 articles matched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F3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05E5C"/>
                </a:solidFill>
                <a:latin typeface="Segoe UI"/>
              </a:rPr>
              <a:t>Content Performance Dashboard  |  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8288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D88300"/>
                </a:solidFill>
                <a:latin typeface="Segoe UI"/>
              </a:rPr>
              <a:t>Method C scores not yet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560320"/>
            <a:ext cx="7589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23030"/>
                </a:solidFill>
                <a:latin typeface="Segoe UI Mono"/>
              </a:rPr>
              <a:t>Run the scoring pipeline to populate this slide:
python pipeline/run_ai_readiness.py \
    --input data/LMC_Monthly_Engagement_Metrics.csv \
    --cache-dir data/cache_raw_md \
    --output data/scores/ai_readiness_scores_raw_md.json
155 cache files are ready in data/cache_raw_md/
Requires: AZURE_OPENAI_ENDPOINT + AZURE_OPENAI_KEY in .env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2120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323030"/>
                </a:solidFill>
                <a:latin typeface="Segoe UI"/>
              </a:rPr>
              <a:t>Method A vs B preview (N=273 articles):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55778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23030"/>
                </a:solidFill>
                <a:latin typeface="Segoe UI"/>
              </a:rPr>
              <a:t>Avg recs — A: 18.7  B: 19.3  Δ(B−A): +0.6   |   Band changes A→B: 6 / 273 (2%)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1796</Words>
  <Application>Microsoft Office PowerPoint</Application>
  <PresentationFormat>Widescreen</PresentationFormat>
  <Paragraphs>237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Segoe UI</vt:lpstr>
      <vt:lpstr>Segoe UI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Rui Hu</cp:lastModifiedBy>
  <cp:revision>2</cp:revision>
  <dcterms:created xsi:type="dcterms:W3CDTF">2013-01-27T09:14:16Z</dcterms:created>
  <dcterms:modified xsi:type="dcterms:W3CDTF">2026-03-19T19:34:05Z</dcterms:modified>
  <cp:category/>
</cp:coreProperties>
</file>